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2" r:id="rId5"/>
    <p:sldId id="266" r:id="rId6"/>
    <p:sldId id="268" r:id="rId7"/>
    <p:sldId id="269" r:id="rId8"/>
    <p:sldId id="265" r:id="rId9"/>
    <p:sldId id="270" r:id="rId10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43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0480-8D6B-4B66-353A-6D25E738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2D1F7-B13F-41DB-B43D-CBC39F1B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F1986-37A8-7B7D-7D24-0A59B92E4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6AA1-2B8E-C03F-155D-722BE09D6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564C-2709-A5FD-FE75-EEA6E88D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96CDA-C5A2-28E7-9325-B3835B918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296D3-9B40-6BBF-8CB8-920C4425A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10AA-9A64-3304-FF8C-1DD05986C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72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16B7-0026-29DE-79FC-055D69AB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4521A-737A-53CF-08A9-F1CE29FC6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31FAF-A6D2-4D32-C820-FA0CA8ABE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A5034-A6C7-148E-B2FE-3B0140AD0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47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4226" y="22558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ПМ.04. Сопровождение и обслуживание программного </a:t>
            </a:r>
          </a:p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обеспечения компьютерных систем</a:t>
            </a:r>
            <a:endParaRPr lang="en-US" sz="445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Путников Дмитрий Васильевич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Пентин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Николай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674966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cs typeface="Times New Roman" panose="02020603050405020304" pitchFamily="18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318FCBB-D1C7-C729-7E32-DAB7FBF6C21D}"/>
              </a:ext>
            </a:extLst>
          </p:cNvPr>
          <p:cNvSpPr/>
          <p:nvPr/>
        </p:nvSpPr>
        <p:spPr>
          <a:xfrm>
            <a:off x="803612" y="1915072"/>
            <a:ext cx="13141881" cy="99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2800" b="1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Цель практики:</a:t>
            </a:r>
          </a:p>
          <a:p>
            <a:pPr>
              <a:lnSpc>
                <a:spcPts val="2550"/>
              </a:lnSpc>
            </a:pPr>
            <a:r>
              <a:rPr lang="ru-RU" sz="28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Закрепление теоретических знаний и получение практических навыков по сопровождению, установке и настройке программного обеспечения.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8174C31B-F5E3-CD8E-1B69-47DEC01EBC0A}"/>
              </a:ext>
            </a:extLst>
          </p:cNvPr>
          <p:cNvSpPr/>
          <p:nvPr/>
        </p:nvSpPr>
        <p:spPr>
          <a:xfrm>
            <a:off x="1192751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AA9B2007-07D8-0ED3-7F2A-EDB0FCE11527}"/>
              </a:ext>
            </a:extLst>
          </p:cNvPr>
          <p:cNvSpPr/>
          <p:nvPr/>
        </p:nvSpPr>
        <p:spPr>
          <a:xfrm>
            <a:off x="1215611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4F8186A6-24BF-5373-A3C4-EA84A20F6626}"/>
              </a:ext>
            </a:extLst>
          </p:cNvPr>
          <p:cNvSpPr/>
          <p:nvPr/>
        </p:nvSpPr>
        <p:spPr>
          <a:xfrm>
            <a:off x="3068633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CAE3387-D42F-9DC4-D2EC-D13E01A8C3A1}"/>
              </a:ext>
            </a:extLst>
          </p:cNvPr>
          <p:cNvSpPr/>
          <p:nvPr/>
        </p:nvSpPr>
        <p:spPr>
          <a:xfrm>
            <a:off x="5263484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9E5C1D2-4C7A-8DE0-DDFE-E21C2599E461}"/>
              </a:ext>
            </a:extLst>
          </p:cNvPr>
          <p:cNvSpPr/>
          <p:nvPr/>
        </p:nvSpPr>
        <p:spPr>
          <a:xfrm>
            <a:off x="5286344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525DA68-9BCD-D456-F3B5-805A6DD150A5}"/>
              </a:ext>
            </a:extLst>
          </p:cNvPr>
          <p:cNvSpPr/>
          <p:nvPr/>
        </p:nvSpPr>
        <p:spPr>
          <a:xfrm>
            <a:off x="7139366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2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85C98E-513B-7AE9-8DB5-24EE5636EAD2}"/>
              </a:ext>
            </a:extLst>
          </p:cNvPr>
          <p:cNvSpPr/>
          <p:nvPr/>
        </p:nvSpPr>
        <p:spPr>
          <a:xfrm>
            <a:off x="9311356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F1D2A79-36FD-1FDA-166A-0577D89AF8CA}"/>
              </a:ext>
            </a:extLst>
          </p:cNvPr>
          <p:cNvSpPr/>
          <p:nvPr/>
        </p:nvSpPr>
        <p:spPr>
          <a:xfrm>
            <a:off x="9334216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1D33B76-AAF3-FD68-E0AE-8040F68A3311}"/>
              </a:ext>
            </a:extLst>
          </p:cNvPr>
          <p:cNvSpPr/>
          <p:nvPr/>
        </p:nvSpPr>
        <p:spPr>
          <a:xfrm>
            <a:off x="11187238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3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6646CBB-9CDF-E410-A554-8F4CD33ACAAF}"/>
              </a:ext>
            </a:extLst>
          </p:cNvPr>
          <p:cNvSpPr/>
          <p:nvPr/>
        </p:nvSpPr>
        <p:spPr>
          <a:xfrm>
            <a:off x="1192751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4392D28-B31B-9173-C503-81744AFCE2F6}"/>
              </a:ext>
            </a:extLst>
          </p:cNvPr>
          <p:cNvSpPr/>
          <p:nvPr/>
        </p:nvSpPr>
        <p:spPr>
          <a:xfrm>
            <a:off x="1215611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E8E63B6-9D58-92E7-3B5A-D745B3E1E150}"/>
              </a:ext>
            </a:extLst>
          </p:cNvPr>
          <p:cNvSpPr/>
          <p:nvPr/>
        </p:nvSpPr>
        <p:spPr>
          <a:xfrm>
            <a:off x="3068633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9F05DB34-7972-EA5A-B7C6-0DA207AF14A3}"/>
              </a:ext>
            </a:extLst>
          </p:cNvPr>
          <p:cNvSpPr/>
          <p:nvPr/>
        </p:nvSpPr>
        <p:spPr>
          <a:xfrm>
            <a:off x="5240623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B115FEC-DA01-F809-BE52-B93D6939A581}"/>
              </a:ext>
            </a:extLst>
          </p:cNvPr>
          <p:cNvSpPr/>
          <p:nvPr/>
        </p:nvSpPr>
        <p:spPr>
          <a:xfrm>
            <a:off x="5263483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683EC99-B2B8-6585-FFD1-DAC467074943}"/>
              </a:ext>
            </a:extLst>
          </p:cNvPr>
          <p:cNvSpPr/>
          <p:nvPr/>
        </p:nvSpPr>
        <p:spPr>
          <a:xfrm>
            <a:off x="7116505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5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BB4387-85EE-FF7A-93E1-FBBE97676025}"/>
              </a:ext>
            </a:extLst>
          </p:cNvPr>
          <p:cNvSpPr/>
          <p:nvPr/>
        </p:nvSpPr>
        <p:spPr>
          <a:xfrm>
            <a:off x="9311357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778C894-79B8-A50C-509C-87E4F694FB8A}"/>
              </a:ext>
            </a:extLst>
          </p:cNvPr>
          <p:cNvSpPr/>
          <p:nvPr/>
        </p:nvSpPr>
        <p:spPr>
          <a:xfrm>
            <a:off x="9334217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AEE34A4-E196-2375-FF45-D307E0785F8A}"/>
              </a:ext>
            </a:extLst>
          </p:cNvPr>
          <p:cNvSpPr/>
          <p:nvPr/>
        </p:nvSpPr>
        <p:spPr>
          <a:xfrm>
            <a:off x="11187239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6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D68C50-C35D-8144-5F29-94D86C85EB40}"/>
              </a:ext>
            </a:extLst>
          </p:cNvPr>
          <p:cNvSpPr txBox="1"/>
          <p:nvPr/>
        </p:nvSpPr>
        <p:spPr>
          <a:xfrm>
            <a:off x="1252103" y="4219994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Установить предложенное ПО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EF3C8C-0D7A-E4E7-7A67-CC1ADE049543}"/>
              </a:ext>
            </a:extLst>
          </p:cNvPr>
          <p:cNvSpPr txBox="1"/>
          <p:nvPr/>
        </p:nvSpPr>
        <p:spPr>
          <a:xfrm>
            <a:off x="5299976" y="4219994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Обосновать вариант конфигурации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9BFC94-2F18-2626-66F6-9C6C6578757A}"/>
              </a:ext>
            </a:extLst>
          </p:cNvPr>
          <p:cNvSpPr txBox="1"/>
          <p:nvPr/>
        </p:nvSpPr>
        <p:spPr>
          <a:xfrm>
            <a:off x="1219498" y="5943541"/>
            <a:ext cx="3988521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Проверить совместимость и качество ПО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C30A1-92D8-E30F-EC10-32E8DEAD699A}"/>
              </a:ext>
            </a:extLst>
          </p:cNvPr>
          <p:cNvSpPr txBox="1"/>
          <p:nvPr/>
        </p:nvSpPr>
        <p:spPr>
          <a:xfrm>
            <a:off x="5299976" y="5980665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Провести анализ условий эксплуатации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A3850F-7F5D-6B8D-8368-C2234EEE60FF}"/>
              </a:ext>
            </a:extLst>
          </p:cNvPr>
          <p:cNvSpPr txBox="1"/>
          <p:nvPr/>
        </p:nvSpPr>
        <p:spPr>
          <a:xfrm>
            <a:off x="9334216" y="4234066"/>
            <a:ext cx="4200310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Обеспечить доступ разным категориям пользователей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5D7DA1-5007-C251-09E2-6C3EE7B61EC6}"/>
              </a:ext>
            </a:extLst>
          </p:cNvPr>
          <p:cNvSpPr txBox="1"/>
          <p:nvPr/>
        </p:nvSpPr>
        <p:spPr>
          <a:xfrm>
            <a:off x="9347848" y="6011670"/>
            <a:ext cx="3314793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Настроить защиту ПО</a:t>
            </a: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Установленное программное обеспечение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130" name="Таблица 129">
            <a:extLst>
              <a:ext uri="{FF2B5EF4-FFF2-40B4-BE49-F238E27FC236}">
                <a16:creationId xmlns:a16="http://schemas.microsoft.com/office/drawing/2014/main" id="{A01C07F6-27A3-D508-32D7-A74CC6D6C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272151"/>
              </p:ext>
            </p:extLst>
          </p:nvPr>
        </p:nvGraphicFramePr>
        <p:xfrm>
          <a:off x="611706" y="1569312"/>
          <a:ext cx="7014902" cy="5172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846">
                  <a:extLst>
                    <a:ext uri="{9D8B030D-6E8A-4147-A177-3AD203B41FA5}">
                      <a16:colId xmlns:a16="http://schemas.microsoft.com/office/drawing/2014/main" val="3684019090"/>
                    </a:ext>
                  </a:extLst>
                </a:gridCol>
                <a:gridCol w="3641417">
                  <a:extLst>
                    <a:ext uri="{9D8B030D-6E8A-4147-A177-3AD203B41FA5}">
                      <a16:colId xmlns:a16="http://schemas.microsoft.com/office/drawing/2014/main" val="836244017"/>
                    </a:ext>
                  </a:extLst>
                </a:gridCol>
                <a:gridCol w="2919639">
                  <a:extLst>
                    <a:ext uri="{9D8B030D-6E8A-4147-A177-3AD203B41FA5}">
                      <a16:colId xmlns:a16="http://schemas.microsoft.com/office/drawing/2014/main" val="3008949543"/>
                    </a:ext>
                  </a:extLst>
                </a:gridCol>
              </a:tblGrid>
              <a:tr h="42230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Программный продукт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441086870"/>
                  </a:ext>
                </a:extLst>
              </a:tr>
              <a:tr h="9147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 err="1">
                          <a:effectLst/>
                          <a:latin typeface="quote-cjk-patch"/>
                        </a:rPr>
                        <a:t>OpenServer</a:t>
                      </a:r>
                      <a:endParaRPr lang="ru-RU" sz="2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Веб-сервер (Apache, PHP, MySQL)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80021321"/>
                  </a:ext>
                </a:extLst>
              </a:tr>
              <a:tr h="66854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WordPress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CMS с открытым кодом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54737259"/>
                  </a:ext>
                </a:extLst>
              </a:tr>
              <a:tr h="9147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Moodle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Система дистанционного обучения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81477951"/>
                  </a:ext>
                </a:extLst>
              </a:tr>
              <a:tr h="9147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1С:Предприятие + «Управление поликлиникой»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Учёт пациентов и услуг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93894227"/>
                  </a:ext>
                </a:extLst>
              </a:tr>
              <a:tr h="66854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Kaspersky Free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Антивирусная защита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9222255"/>
                  </a:ext>
                </a:extLst>
              </a:tr>
              <a:tr h="66854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Notepad++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quote-cjk-patch"/>
                        </a:rPr>
                        <a:t>Редактор конфигураций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4417714"/>
                  </a:ext>
                </a:extLst>
              </a:tr>
            </a:tbl>
          </a:graphicData>
        </a:graphic>
      </p:graphicFrame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51692AC3-3099-5493-F916-15CFA16DA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659" y="1956058"/>
            <a:ext cx="6200035" cy="4785567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664AEC5C-ECA4-B392-7B8A-F90020B5CEDD}"/>
              </a:ext>
            </a:extLst>
          </p:cNvPr>
          <p:cNvSpPr txBox="1"/>
          <p:nvPr/>
        </p:nvSpPr>
        <p:spPr>
          <a:xfrm>
            <a:off x="9526858" y="6759040"/>
            <a:ext cx="348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процесса установки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9368" y="336925"/>
            <a:ext cx="6133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50"/>
              </a:lnSpc>
            </a:pPr>
            <a:r>
              <a:rPr lang="ru-RU" sz="38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Архитектура и разграничение прав доступа</a:t>
            </a:r>
            <a:endParaRPr lang="en-US" sz="380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2228" y="1416367"/>
            <a:ext cx="6395204" cy="3000589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3416" y="1502728"/>
            <a:ext cx="47625" cy="282412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8573" y="163413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sz="24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Компоненты информационной системы: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8573" y="2156896"/>
            <a:ext cx="5891093" cy="200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Веб-сервер: </a:t>
            </a:r>
            <a:r>
              <a:rPr lang="en-US" sz="2000" dirty="0" err="1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OpenServer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 (Apache, PHP, MySQL)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Веб-приложения: 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WordPress 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и 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Moodle (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работают поверх </a:t>
            </a:r>
            <a:r>
              <a:rPr lang="en-US" sz="2000" dirty="0" err="1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OpenServer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Учётная система: 1С:Предприятие (работает изолированно)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Защита: 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Kaspersky Free + 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брандмауэр 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Windows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975B31-5FE7-DE04-453B-C4ADB4142421}"/>
              </a:ext>
            </a:extLst>
          </p:cNvPr>
          <p:cNvSpPr/>
          <p:nvPr/>
        </p:nvSpPr>
        <p:spPr>
          <a:xfrm>
            <a:off x="12879659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99555D5-37FC-186C-1066-0ACDD12E2604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23F775E-2855-6389-426B-5C6FBDE80DEB}"/>
              </a:ext>
            </a:extLst>
          </p:cNvPr>
          <p:cNvSpPr/>
          <p:nvPr/>
        </p:nvSpPr>
        <p:spPr>
          <a:xfrm>
            <a:off x="659368" y="4381157"/>
            <a:ext cx="6395204" cy="3000589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CFE050E-A639-0F3D-7550-6C28E79A0041}"/>
              </a:ext>
            </a:extLst>
          </p:cNvPr>
          <p:cNvSpPr/>
          <p:nvPr/>
        </p:nvSpPr>
        <p:spPr>
          <a:xfrm>
            <a:off x="640556" y="4467518"/>
            <a:ext cx="47625" cy="282412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27DFDBD-94CE-C1C5-93CF-5CB4CC09164E}"/>
              </a:ext>
            </a:extLst>
          </p:cNvPr>
          <p:cNvSpPr/>
          <p:nvPr/>
        </p:nvSpPr>
        <p:spPr>
          <a:xfrm>
            <a:off x="945713" y="459892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sz="24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Учётные записи пользователей: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C4CC217F-85C7-E8ED-C36F-53963EA4A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743805"/>
              </p:ext>
            </p:extLst>
          </p:nvPr>
        </p:nvGraphicFramePr>
        <p:xfrm>
          <a:off x="850165" y="5193669"/>
          <a:ext cx="6013609" cy="144259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88554">
                  <a:extLst>
                    <a:ext uri="{9D8B030D-6E8A-4147-A177-3AD203B41FA5}">
                      <a16:colId xmlns:a16="http://schemas.microsoft.com/office/drawing/2014/main" val="3717845108"/>
                    </a:ext>
                  </a:extLst>
                </a:gridCol>
                <a:gridCol w="3725055">
                  <a:extLst>
                    <a:ext uri="{9D8B030D-6E8A-4147-A177-3AD203B41FA5}">
                      <a16:colId xmlns:a16="http://schemas.microsoft.com/office/drawing/2014/main" val="2146850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Пользователь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Права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8518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Администратор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Полный доступ к системе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08384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Оператор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</a:rPr>
                        <a:t>Только запуск программ и чтение файлов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9243392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62324C0-764C-75DF-D452-73B421543426}"/>
              </a:ext>
            </a:extLst>
          </p:cNvPr>
          <p:cNvSpPr txBox="1"/>
          <p:nvPr/>
        </p:nvSpPr>
        <p:spPr>
          <a:xfrm>
            <a:off x="9388588" y="666706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Настройки прав </a:t>
            </a:r>
            <a:r>
              <a:rPr lang="en-US" dirty="0"/>
              <a:t>NTFS</a:t>
            </a:r>
            <a:endParaRPr lang="ru-RU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AB22763-A859-70EC-BA1E-AB3D9055A727}"/>
              </a:ext>
            </a:extLst>
          </p:cNvPr>
          <p:cNvSpPr/>
          <p:nvPr/>
        </p:nvSpPr>
        <p:spPr>
          <a:xfrm>
            <a:off x="8057079" y="1768350"/>
            <a:ext cx="5891093" cy="200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/>
              <a:t>Настройка прав NTFS (папка C:\OSPanel\home):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Администратор — полный доступ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 — только чтение</a:t>
            </a:r>
          </a:p>
          <a:p>
            <a:r>
              <a:rPr lang="ru-RU" dirty="0"/>
              <a:t>Права в веб-приложениях: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WordPress</a:t>
            </a:r>
            <a:r>
              <a:rPr lang="ru-RU" dirty="0"/>
              <a:t>: Администратор (полный доступ), Редактор (создание записей)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Moodle</a:t>
            </a:r>
            <a:r>
              <a:rPr lang="ru-RU" dirty="0"/>
              <a:t>: Администратор (полный доступ)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06AD3DB-0F06-9498-ACEE-2F578CA72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4" y="1416367"/>
            <a:ext cx="6071168" cy="5219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D0C-FF47-D7BB-79B2-27CDD083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AAC611-DD74-8C3B-EC18-59572C7BDB11}"/>
              </a:ext>
            </a:extLst>
          </p:cNvPr>
          <p:cNvSpPr/>
          <p:nvPr/>
        </p:nvSpPr>
        <p:spPr>
          <a:xfrm>
            <a:off x="3912274" y="321928"/>
            <a:ext cx="665702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5450"/>
              </a:lnSpc>
            </a:pPr>
            <a:r>
              <a:rPr lang="ru-RU" sz="43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Контроль качества функционирования ПО  </a:t>
            </a:r>
            <a:endParaRPr lang="en-US" sz="4350" dirty="0"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66A6CF-C91E-6BD5-F5B3-5D1391E3E21C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F838A98-13DF-3AE0-0C88-BE4AD8FCD99C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D085926-D039-28E6-10F2-CADAD1F18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64306"/>
              </p:ext>
            </p:extLst>
          </p:nvPr>
        </p:nvGraphicFramePr>
        <p:xfrm>
          <a:off x="503795" y="1649930"/>
          <a:ext cx="9317538" cy="4050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193">
                  <a:extLst>
                    <a:ext uri="{9D8B030D-6E8A-4147-A177-3AD203B41FA5}">
                      <a16:colId xmlns:a16="http://schemas.microsoft.com/office/drawing/2014/main" val="1524004550"/>
                    </a:ext>
                  </a:extLst>
                </a:gridCol>
                <a:gridCol w="5629345">
                  <a:extLst>
                    <a:ext uri="{9D8B030D-6E8A-4147-A177-3AD203B41FA5}">
                      <a16:colId xmlns:a16="http://schemas.microsoft.com/office/drawing/2014/main" val="3304318670"/>
                    </a:ext>
                  </a:extLst>
                </a:gridCol>
              </a:tblGrid>
              <a:tr h="67787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Средство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Результат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55886517"/>
                  </a:ext>
                </a:extLst>
              </a:tr>
              <a:tr h="7985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quote-cjk-patch"/>
                        </a:rPr>
                        <a:t>Диспетчер задач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Процессы </a:t>
                      </a:r>
                      <a:r>
                        <a:rPr lang="ru-RU" sz="2400" b="0">
                          <a:effectLst/>
                          <a:latin typeface="Menlo"/>
                        </a:rPr>
                        <a:t>httpd.exe</a:t>
                      </a:r>
                      <a:r>
                        <a:rPr lang="ru-RU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2400" b="0">
                          <a:effectLst/>
                          <a:latin typeface="Menlo"/>
                        </a:rPr>
                        <a:t>mysqld.exe</a:t>
                      </a:r>
                      <a:r>
                        <a:rPr lang="ru-RU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2400" b="0">
                          <a:effectLst/>
                          <a:latin typeface="Menlo"/>
                        </a:rPr>
                        <a:t>1cv8.exe</a:t>
                      </a:r>
                      <a:r>
                        <a:rPr lang="ru-RU" sz="2400" b="0">
                          <a:effectLst/>
                          <a:latin typeface="quote-cjk-patch"/>
                        </a:rPr>
                        <a:t> активны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89039975"/>
                  </a:ext>
                </a:extLst>
              </a:tr>
              <a:tr h="85794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Menlo"/>
                        </a:rPr>
                        <a:t>sfc /scannow</a:t>
                      </a:r>
                      <a:endParaRPr lang="ru-RU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quote-cjk-patch"/>
                        </a:rPr>
                        <a:t>Повреждённых системных файлов не обнаружено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11421741"/>
                  </a:ext>
                </a:extLst>
              </a:tr>
              <a:tr h="85794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Журналы событий Windows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quote-cjk-patch"/>
                        </a:rPr>
                        <a:t>Критических ошибок нет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83039354"/>
                  </a:ext>
                </a:extLst>
              </a:tr>
              <a:tr h="85794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Проверка здоровья Moodle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quote-cjk-patch"/>
                        </a:rPr>
                        <a:t>Все проверки пройдены успешно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136070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2E4FBD-1DD9-CB83-2926-DBED42809EBC}"/>
              </a:ext>
            </a:extLst>
          </p:cNvPr>
          <p:cNvSpPr txBox="1"/>
          <p:nvPr/>
        </p:nvSpPr>
        <p:spPr>
          <a:xfrm>
            <a:off x="696367" y="1222921"/>
            <a:ext cx="5046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Использованные средства контроля: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3374A2-267D-A482-E33A-14E6F873D799}"/>
              </a:ext>
            </a:extLst>
          </p:cNvPr>
          <p:cNvSpPr txBox="1"/>
          <p:nvPr/>
        </p:nvSpPr>
        <p:spPr>
          <a:xfrm>
            <a:off x="489759" y="6028357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Вывод:</a:t>
            </a:r>
            <a:r>
              <a:rPr lang="ru-RU" sz="2400" dirty="0"/>
              <a:t> Все системы работают стабильно, сбоев не зафиксировано.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25407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40EF-7F83-CD0C-AA3D-5A26C943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E08F010-3C58-0880-95BF-48B876864FCD}"/>
              </a:ext>
            </a:extLst>
          </p:cNvPr>
          <p:cNvSpPr/>
          <p:nvPr/>
        </p:nvSpPr>
        <p:spPr>
          <a:xfrm>
            <a:off x="694611" y="39758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Анализ условий эксплуатации и Защита ПО</a:t>
            </a:r>
            <a:endParaRPr lang="en-US" sz="3900" dirty="0">
              <a:cs typeface="Times New Roman" panose="02020603050405020304" pitchFamily="18" charset="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936108D-D186-A63B-A962-ECA641EA1DD8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A369821B-E14C-A902-27E8-18133FAB3D83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3F6589E-7F4D-8F44-E10C-F0AA156CD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896967"/>
              </p:ext>
            </p:extLst>
          </p:nvPr>
        </p:nvGraphicFramePr>
        <p:xfrm>
          <a:off x="706993" y="1409275"/>
          <a:ext cx="8296989" cy="2965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5663">
                  <a:extLst>
                    <a:ext uri="{9D8B030D-6E8A-4147-A177-3AD203B41FA5}">
                      <a16:colId xmlns:a16="http://schemas.microsoft.com/office/drawing/2014/main" val="3841340680"/>
                    </a:ext>
                  </a:extLst>
                </a:gridCol>
                <a:gridCol w="3533193">
                  <a:extLst>
                    <a:ext uri="{9D8B030D-6E8A-4147-A177-3AD203B41FA5}">
                      <a16:colId xmlns:a16="http://schemas.microsoft.com/office/drawing/2014/main" val="1172361110"/>
                    </a:ext>
                  </a:extLst>
                </a:gridCol>
                <a:gridCol w="1998133">
                  <a:extLst>
                    <a:ext uri="{9D8B030D-6E8A-4147-A177-3AD203B41FA5}">
                      <a16:colId xmlns:a16="http://schemas.microsoft.com/office/drawing/2014/main" val="3738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Условие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Соответствие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37578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Аппаратные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Intel Core i5, 16 ГБ ОЗУ, SSD 512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7490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Программные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Windows 11 Pro, права администратора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1300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Сетевые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Локальная сеть больницы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4938419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Пользовательские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Администратор и Оператор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713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Безопасность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Антивирус, брандмауэр, политики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28649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F3218F-BE07-C113-68F7-8346066D57F9}"/>
              </a:ext>
            </a:extLst>
          </p:cNvPr>
          <p:cNvSpPr txBox="1"/>
          <p:nvPr/>
        </p:nvSpPr>
        <p:spPr>
          <a:xfrm>
            <a:off x="706993" y="4508868"/>
            <a:ext cx="333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Реализованные меры защиты: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53BB18E2-5F84-CF21-5DC8-6956F5E46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199365"/>
              </p:ext>
            </p:extLst>
          </p:nvPr>
        </p:nvGraphicFramePr>
        <p:xfrm>
          <a:off x="694611" y="4901994"/>
          <a:ext cx="926674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074">
                  <a:extLst>
                    <a:ext uri="{9D8B030D-6E8A-4147-A177-3AD203B41FA5}">
                      <a16:colId xmlns:a16="http://schemas.microsoft.com/office/drawing/2014/main" val="2391388549"/>
                    </a:ext>
                  </a:extLst>
                </a:gridCol>
                <a:gridCol w="5672666">
                  <a:extLst>
                    <a:ext uri="{9D8B030D-6E8A-4147-A177-3AD203B41FA5}">
                      <a16:colId xmlns:a16="http://schemas.microsoft.com/office/drawing/2014/main" val="2902418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Мера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Реализация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44536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Антивирусная защита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Kaspersky Free (защита активна, базы обновлены)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6173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Политика паролей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Минимальная длина 8 символов, сложность включена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34490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Блокировка учётной записи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3 неудачные попытки → блокировка на 30 минут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7607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Права NTFS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Оператор — только чтение папки с ПО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0060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Защита веб-приложений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Сложные пароли, отключена регистрация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65237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01CE42-C625-EF2C-81D7-F1616F1744DA}"/>
              </a:ext>
            </a:extLst>
          </p:cNvPr>
          <p:cNvSpPr txBox="1"/>
          <p:nvPr/>
        </p:nvSpPr>
        <p:spPr>
          <a:xfrm>
            <a:off x="706993" y="1072910"/>
            <a:ext cx="333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Анализ условий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8" name="Рисунок 17" descr="Picture background">
            <a:extLst>
              <a:ext uri="{FF2B5EF4-FFF2-40B4-BE49-F238E27FC236}">
                <a16:creationId xmlns:a16="http://schemas.microsoft.com/office/drawing/2014/main" id="{48FFDB20-0F7B-672C-6BF0-6B762C5F8C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8"/>
          <a:stretch>
            <a:fillRect/>
          </a:stretch>
        </p:blipFill>
        <p:spPr bwMode="auto">
          <a:xfrm>
            <a:off x="301688" y="1330956"/>
            <a:ext cx="6873118" cy="43190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ED0FEDB-7C64-5BBA-0286-09AA2AF59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30956"/>
            <a:ext cx="7187774" cy="45168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66128A-05BD-9906-579C-5AD443A8968B}"/>
              </a:ext>
            </a:extLst>
          </p:cNvPr>
          <p:cNvSpPr txBox="1"/>
          <p:nvPr/>
        </p:nvSpPr>
        <p:spPr>
          <a:xfrm>
            <a:off x="2374926" y="5613492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Kaspersky Free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C22143-0DAE-5823-06DA-5ED757D1EE7A}"/>
              </a:ext>
            </a:extLst>
          </p:cNvPr>
          <p:cNvSpPr txBox="1"/>
          <p:nvPr/>
        </p:nvSpPr>
        <p:spPr>
          <a:xfrm>
            <a:off x="10124033" y="5713762"/>
            <a:ext cx="287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Политики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0850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20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A6E1-8B10-191D-B69C-F5A04229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692D61A-303A-5CE9-19C8-E31516DDDEE2}"/>
              </a:ext>
            </a:extLst>
          </p:cNvPr>
          <p:cNvSpPr/>
          <p:nvPr/>
        </p:nvSpPr>
        <p:spPr>
          <a:xfrm>
            <a:off x="706993" y="3620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Метрики качества ПО (ISO/IEC 25010)</a:t>
            </a:r>
            <a:endParaRPr lang="en-US" sz="3900" dirty="0">
              <a:cs typeface="Times New Roman" panose="02020603050405020304" pitchFamily="18" charset="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74ABE20-69E8-E99C-4D24-F2163AB55733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C5D79363-88B2-18D0-7871-594FBD914F5C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59028-EC71-3DF9-BD9C-0E94D0749C3A}"/>
              </a:ext>
            </a:extLst>
          </p:cNvPr>
          <p:cNvSpPr txBox="1"/>
          <p:nvPr/>
        </p:nvSpPr>
        <p:spPr>
          <a:xfrm>
            <a:off x="620196" y="1303866"/>
            <a:ext cx="6608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Оценка качества ПО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Надёжность:</a:t>
            </a:r>
            <a:r>
              <a:rPr lang="ru-RU" sz="2400" dirty="0"/>
              <a:t> высокая — сбоев не зафиксировано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Производительность:</a:t>
            </a:r>
            <a:r>
              <a:rPr lang="ru-RU" sz="2400" dirty="0"/>
              <a:t> высокая — ОЗУ до 3,5 ГБ, ЦП до 25%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Безопасность:</a:t>
            </a:r>
            <a:r>
              <a:rPr lang="ru-RU" sz="2400" dirty="0"/>
              <a:t> высокая — антивирус, политики, NTFS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Совместимость:</a:t>
            </a:r>
            <a:r>
              <a:rPr lang="ru-RU" sz="2400" dirty="0"/>
              <a:t> отличная — все компоненты работают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Удобство использования:</a:t>
            </a:r>
            <a:r>
              <a:rPr lang="ru-RU" sz="2400" dirty="0"/>
              <a:t> средняя — требует обучения</a:t>
            </a:r>
          </a:p>
          <a:p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DA500-FC2E-9C26-8DC2-5079816C80CE}"/>
              </a:ext>
            </a:extLst>
          </p:cNvPr>
          <p:cNvSpPr txBox="1"/>
          <p:nvPr/>
        </p:nvSpPr>
        <p:spPr>
          <a:xfrm>
            <a:off x="793789" y="5837136"/>
            <a:ext cx="130428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 соответствует требованиям к информационным системам медицинских учреждений.</a:t>
            </a:r>
          </a:p>
        </p:txBody>
      </p:sp>
    </p:spTree>
    <p:extLst>
      <p:ext uri="{BB962C8B-B14F-4D97-AF65-F5344CB8AC3E}">
        <p14:creationId xmlns:p14="http://schemas.microsoft.com/office/powerpoint/2010/main" val="232633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DD52AD1-CE76-38BF-BF1F-2766C296215A}"/>
              </a:ext>
            </a:extLst>
          </p:cNvPr>
          <p:cNvSpPr/>
          <p:nvPr/>
        </p:nvSpPr>
        <p:spPr>
          <a:xfrm>
            <a:off x="694611" y="6593443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B17E7F5-FB07-6E05-0060-17030802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6888718"/>
            <a:ext cx="248007" cy="198358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9F813175-A5DC-D994-AD07-3718CB0EAAE5}"/>
              </a:ext>
            </a:extLst>
          </p:cNvPr>
          <p:cNvSpPr/>
          <p:nvPr/>
        </p:nvSpPr>
        <p:spPr>
          <a:xfrm>
            <a:off x="1339334" y="6816566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Исходный код проекта загружен на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и доступен для проверки. Все поставленные цели практики выполнены в полном объёме.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694610" y="132278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A8B48-DBC6-B1E4-57BD-DC944B16AFC9}"/>
              </a:ext>
            </a:extLst>
          </p:cNvPr>
          <p:cNvSpPr txBox="1"/>
          <p:nvPr/>
        </p:nvSpPr>
        <p:spPr>
          <a:xfrm>
            <a:off x="694611" y="1875690"/>
            <a:ext cx="75567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выполнено: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и настроены 6 программных продуктов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Обоснованы варианты конфигураций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Обеспечено разграничение прав доступа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Проверена совместимость и качество ПО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условий эксплуатации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защита на требуемом уровне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сохранены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производственной практики выполнены в полном объёме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Прямоугольник 2">
            <a:extLst>
              <a:ext uri="{FF2B5EF4-FFF2-40B4-BE49-F238E27FC236}">
                <a16:creationId xmlns:a16="http://schemas.microsoft.com/office/drawing/2014/main" id="{39E2F41E-0D3C-3B90-65B8-E164A5CDC9F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03F6E1-B58D-B51D-6E96-2071B926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79" y="497259"/>
            <a:ext cx="6225241" cy="6195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7AF70F-1469-B04F-3F73-04E088765A9E}"/>
              </a:ext>
            </a:extLst>
          </p:cNvPr>
          <p:cNvSpPr txBox="1"/>
          <p:nvPr/>
        </p:nvSpPr>
        <p:spPr>
          <a:xfrm>
            <a:off x="3657599" y="671026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QR-код на репозиторий</a:t>
            </a:r>
          </a:p>
        </p:txBody>
      </p:sp>
    </p:spTree>
    <p:extLst>
      <p:ext uri="{BB962C8B-B14F-4D97-AF65-F5344CB8AC3E}">
        <p14:creationId xmlns:p14="http://schemas.microsoft.com/office/powerpoint/2010/main" val="207113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582</Words>
  <Application>Microsoft Office PowerPoint</Application>
  <PresentationFormat>Произвольный</PresentationFormat>
  <Paragraphs>144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DM Sans Medium</vt:lpstr>
      <vt:lpstr>Inter</vt:lpstr>
      <vt:lpstr>Menlo</vt:lpstr>
      <vt:lpstr>quote-cjk-patch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Дмитрий Путников</cp:lastModifiedBy>
  <cp:revision>55</cp:revision>
  <dcterms:created xsi:type="dcterms:W3CDTF">2026-04-20T09:20:00Z</dcterms:created>
  <dcterms:modified xsi:type="dcterms:W3CDTF">2026-06-13T15:56:26Z</dcterms:modified>
</cp:coreProperties>
</file>